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4" r:id="rId6"/>
    <p:sldId id="262" r:id="rId7"/>
    <p:sldId id="265" r:id="rId8"/>
    <p:sldId id="268" r:id="rId9"/>
    <p:sldId id="263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0BAB5-D307-4C87-87CC-FF66501F6390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2866D-2003-4E87-9E59-C0E4D5311C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932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2866D-2003-4E87-9E59-C0E4D5311CF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80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2866D-2003-4E87-9E59-C0E4D5311CF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1781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25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4143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68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3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67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232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731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943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27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0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419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929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464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4878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6924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6822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219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DCAD8-191E-42DC-BEDD-3301466CFCC4}" type="datetimeFigureOut">
              <a:rPr lang="en-AU" smtClean="0"/>
              <a:t>24/07/2026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7BAA3-4F6E-42F5-8ADE-6E949BD278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5577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tm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7" Type="http://schemas.openxmlformats.org/officeDocument/2006/relationships/image" Target="../media/image11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tmp"/><Relationship Id="rId5" Type="http://schemas.openxmlformats.org/officeDocument/2006/relationships/image" Target="../media/image9.tmp"/><Relationship Id="rId4" Type="http://schemas.openxmlformats.org/officeDocument/2006/relationships/image" Target="../media/image8.tm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5B68-0280-5F6F-9ADB-2AB17CB42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373" y="1534511"/>
            <a:ext cx="11813627" cy="767254"/>
          </a:xfrm>
        </p:spPr>
        <p:txBody>
          <a:bodyPr>
            <a:normAutofit/>
          </a:bodyPr>
          <a:lstStyle/>
          <a:p>
            <a:pPr algn="ctr"/>
            <a:r>
              <a:rPr lang="en-AU" sz="3600" b="1" i="1" dirty="0"/>
              <a:t>Exploratory </a:t>
            </a:r>
            <a:r>
              <a:rPr lang="en-AU" sz="3600" b="1" i="1" dirty="0">
                <a:highlight>
                  <a:srgbClr val="0000FF"/>
                </a:highlight>
              </a:rPr>
              <a:t>Data Analysis </a:t>
            </a:r>
            <a:r>
              <a:rPr lang="en-AU" sz="3600" b="1" i="1" dirty="0"/>
              <a:t>of </a:t>
            </a:r>
            <a:r>
              <a:rPr lang="en-AU" sz="3600" b="1" i="1" dirty="0">
                <a:highlight>
                  <a:srgbClr val="0000FF"/>
                </a:highlight>
              </a:rPr>
              <a:t>Retail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32586-330B-FC64-CA70-A23464899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510" y="2743200"/>
            <a:ext cx="9144000" cy="2017986"/>
          </a:xfrm>
        </p:spPr>
        <p:txBody>
          <a:bodyPr>
            <a:normAutofit lnSpcReduction="10000"/>
          </a:bodyPr>
          <a:lstStyle/>
          <a:p>
            <a:endParaRPr lang="en-AU" sz="32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3200" b="1" dirty="0">
                <a:ea typeface="Calibri" panose="020F0502020204030204" pitchFamily="34" charset="0"/>
                <a:cs typeface="Calibri" panose="020F0502020204030204" pitchFamily="34" charset="0"/>
              </a:rPr>
              <a:t>Name:</a:t>
            </a:r>
            <a:r>
              <a:rPr lang="en-AU" sz="3200" b="1" dirty="0">
                <a:cs typeface="Arial" panose="020B0604020202020204" pitchFamily="34" charset="0"/>
              </a:rPr>
              <a:t> </a:t>
            </a:r>
            <a:r>
              <a:rPr lang="en-AU" sz="2800" i="1" dirty="0">
                <a:highlight>
                  <a:srgbClr val="0000FF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Ravalika</a:t>
            </a:r>
          </a:p>
          <a:p>
            <a:endParaRPr lang="en-AU" sz="2800" i="1" dirty="0">
              <a:highlight>
                <a:srgbClr val="0000FF"/>
              </a:highligh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sz="3200" b="1" dirty="0">
                <a:cs typeface="Arial" panose="020B0604020202020204" pitchFamily="34" charset="0"/>
              </a:rPr>
              <a:t>Organization:</a:t>
            </a:r>
            <a:r>
              <a:rPr lang="en-AU" sz="3200" b="1" i="1" dirty="0">
                <a:cs typeface="Arial" panose="020B0604020202020204" pitchFamily="34" charset="0"/>
              </a:rPr>
              <a:t> </a:t>
            </a:r>
            <a:r>
              <a:rPr lang="en-AU" sz="2800" i="1" dirty="0">
                <a:highlight>
                  <a:srgbClr val="0000FF"/>
                </a:highlight>
                <a:cs typeface="Arial" panose="020B0604020202020204" pitchFamily="34" charset="0"/>
              </a:rPr>
              <a:t>NextHikes IT Solutions</a:t>
            </a:r>
          </a:p>
        </p:txBody>
      </p:sp>
    </p:spTree>
    <p:extLst>
      <p:ext uri="{BB962C8B-B14F-4D97-AF65-F5344CB8AC3E}">
        <p14:creationId xmlns:p14="http://schemas.microsoft.com/office/powerpoint/2010/main" val="204577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A2FF-3AC1-2151-AF78-4A717F3E5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720"/>
          </a:xfrm>
        </p:spPr>
        <p:txBody>
          <a:bodyPr>
            <a:normAutofit/>
          </a:bodyPr>
          <a:lstStyle/>
          <a:p>
            <a:pPr algn="ctr"/>
            <a:r>
              <a:rPr lang="en-AU" sz="3600" b="1" i="1" dirty="0"/>
              <a:t>Project </a:t>
            </a:r>
            <a:r>
              <a:rPr lang="en-AU" sz="3600" b="1" i="1" dirty="0">
                <a:highlight>
                  <a:srgbClr val="0000FF"/>
                </a:highlight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CE17-A952-AAB2-6CE5-50433F807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2371"/>
            <a:ext cx="9908458" cy="3794236"/>
          </a:xfrm>
        </p:spPr>
        <p:txBody>
          <a:bodyPr>
            <a:normAutofit fontScale="92500" lnSpcReduction="20000"/>
          </a:bodyPr>
          <a:lstStyle/>
          <a:p>
            <a:endParaRPr lang="en-AU" sz="3200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AU" sz="3500" i="1" dirty="0"/>
              <a:t>Univariate, Bivariate &amp; Multivariate Analysis</a:t>
            </a:r>
          </a:p>
          <a:p>
            <a:pPr marL="0" indent="0">
              <a:buNone/>
            </a:pPr>
            <a:endParaRPr lang="en-AU" sz="3500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AU" sz="3500" i="1" dirty="0"/>
              <a:t>Outlier Detection </a:t>
            </a:r>
          </a:p>
          <a:p>
            <a:pPr marL="0" indent="0">
              <a:buNone/>
            </a:pPr>
            <a:endParaRPr lang="en-AU" sz="3500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AU" sz="3500" i="1" dirty="0"/>
              <a:t>Correlation Analysis </a:t>
            </a:r>
          </a:p>
          <a:p>
            <a:pPr marL="0" indent="0">
              <a:buNone/>
            </a:pPr>
            <a:endParaRPr lang="en-AU" sz="3500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AU" sz="3500" i="1" dirty="0"/>
              <a:t>Skewness &amp; Kurtosis</a:t>
            </a:r>
          </a:p>
        </p:txBody>
      </p:sp>
    </p:spTree>
    <p:extLst>
      <p:ext uri="{BB962C8B-B14F-4D97-AF65-F5344CB8AC3E}">
        <p14:creationId xmlns:p14="http://schemas.microsoft.com/office/powerpoint/2010/main" val="44898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9C98-1E8A-CCF2-0B2C-5AF6CD0A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720"/>
          </a:xfrm>
        </p:spPr>
        <p:txBody>
          <a:bodyPr>
            <a:normAutofit/>
          </a:bodyPr>
          <a:lstStyle/>
          <a:p>
            <a:pPr algn="ctr"/>
            <a:r>
              <a:rPr lang="en-AU" sz="3600" b="1" i="1" dirty="0"/>
              <a:t>Dataset </a:t>
            </a:r>
            <a:r>
              <a:rPr lang="en-AU" sz="3600" b="1" i="1" dirty="0">
                <a:highlight>
                  <a:srgbClr val="0000FF"/>
                </a:highlight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274E8-4E66-062E-9F29-151622938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1602657"/>
            <a:ext cx="12034683" cy="4965291"/>
          </a:xfrm>
        </p:spPr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sz="3200" i="1" dirty="0"/>
              <a:t>100,000 records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3200" i="1" dirty="0"/>
              <a:t>18 columns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3200" i="1" dirty="0"/>
              <a:t>Numerical, categorical and </a:t>
            </a:r>
          </a:p>
          <a:p>
            <a:pPr marL="0" indent="0">
              <a:buNone/>
            </a:pPr>
            <a:r>
              <a:rPr lang="en-AU" sz="3200" i="1" dirty="0"/>
              <a:t>   date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E7F1A-C3B2-2C17-997B-99D61C210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0"/>
          <a:stretch>
            <a:fillRect/>
          </a:stretch>
        </p:blipFill>
        <p:spPr>
          <a:xfrm>
            <a:off x="6385098" y="1901209"/>
            <a:ext cx="5578465" cy="459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75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43A6-3FB3-081B-1E08-0BF963B7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994758"/>
          </a:xfrm>
        </p:spPr>
        <p:txBody>
          <a:bodyPr>
            <a:normAutofit/>
          </a:bodyPr>
          <a:lstStyle/>
          <a:p>
            <a:pPr algn="ctr"/>
            <a:r>
              <a:rPr lang="en-AU" sz="3600" b="1" i="1" dirty="0"/>
              <a:t>Methodo</a:t>
            </a:r>
            <a:r>
              <a:rPr lang="en-AU" sz="3600" b="1" i="1" dirty="0">
                <a:highlight>
                  <a:srgbClr val="0000FF"/>
                </a:highlight>
              </a:rPr>
              <a:t>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A4845-2F65-A363-FF2F-7B8E2073A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24594"/>
            <a:ext cx="10820400" cy="4169033"/>
          </a:xfrm>
        </p:spPr>
        <p:txBody>
          <a:bodyPr>
            <a:normAutofit/>
          </a:bodyPr>
          <a:lstStyle/>
          <a:p>
            <a:endParaRPr lang="en-AU" dirty="0"/>
          </a:p>
          <a:p>
            <a:pPr>
              <a:buFont typeface="Wingdings" panose="05000000000000000000" pitchFamily="2" charset="2"/>
              <a:buChar char="Ø"/>
            </a:pPr>
            <a:r>
              <a:rPr lang="en-AU" sz="3200" i="1" dirty="0"/>
              <a:t>Data </a:t>
            </a:r>
            <a:r>
              <a:rPr lang="en-AU" sz="3200" i="1" dirty="0">
                <a:highlight>
                  <a:srgbClr val="0000FF"/>
                </a:highlight>
              </a:rPr>
              <a:t>loading         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3200" i="1" dirty="0"/>
              <a:t>Summary </a:t>
            </a:r>
            <a:r>
              <a:rPr lang="en-AU" sz="3200" i="1" dirty="0">
                <a:highlight>
                  <a:srgbClr val="0000FF"/>
                </a:highlight>
              </a:rPr>
              <a:t>statistics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3200" i="1" dirty="0"/>
              <a:t>Histograms &amp; bar </a:t>
            </a:r>
            <a:r>
              <a:rPr lang="en-AU" sz="3200" i="1" dirty="0">
                <a:highlight>
                  <a:srgbClr val="0000FF"/>
                </a:highlight>
              </a:rPr>
              <a:t>charts</a:t>
            </a:r>
            <a:r>
              <a:rPr lang="en-AU" sz="3200" i="1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3200" i="1" dirty="0"/>
              <a:t>Box</a:t>
            </a:r>
            <a:r>
              <a:rPr lang="en-AU" sz="3200" i="1" dirty="0">
                <a:highlight>
                  <a:srgbClr val="0000FF"/>
                </a:highlight>
              </a:rPr>
              <a:t>plots</a:t>
            </a:r>
            <a:r>
              <a:rPr lang="en-AU" sz="3200" i="1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3200" i="1" dirty="0"/>
              <a:t>Correlation heat</a:t>
            </a:r>
            <a:r>
              <a:rPr lang="en-AU" sz="3200" i="1" dirty="0">
                <a:highlight>
                  <a:srgbClr val="0000FF"/>
                </a:highlight>
              </a:rPr>
              <a:t>map</a:t>
            </a:r>
            <a:r>
              <a:rPr lang="en-AU" sz="3200" i="1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3200" i="1" dirty="0"/>
              <a:t>Scatter </a:t>
            </a:r>
            <a:r>
              <a:rPr lang="en-AU" sz="3200" i="1" dirty="0">
                <a:highlight>
                  <a:srgbClr val="0000FF"/>
                </a:highlight>
              </a:rPr>
              <a:t>plots</a:t>
            </a:r>
          </a:p>
        </p:txBody>
      </p:sp>
    </p:spTree>
    <p:extLst>
      <p:ext uri="{BB962C8B-B14F-4D97-AF65-F5344CB8AC3E}">
        <p14:creationId xmlns:p14="http://schemas.microsoft.com/office/powerpoint/2010/main" val="45127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B4E1FF-6EE7-A4B2-C810-22546DBE3D30}"/>
              </a:ext>
            </a:extLst>
          </p:cNvPr>
          <p:cNvSpPr/>
          <p:nvPr/>
        </p:nvSpPr>
        <p:spPr>
          <a:xfrm>
            <a:off x="4350776" y="459205"/>
            <a:ext cx="2652640" cy="88612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i="1" dirty="0"/>
              <a:t>📂 Dataset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1C12C8-996A-D241-29EC-40447F227C6B}"/>
              </a:ext>
            </a:extLst>
          </p:cNvPr>
          <p:cNvSpPr/>
          <p:nvPr/>
        </p:nvSpPr>
        <p:spPr>
          <a:xfrm>
            <a:off x="4267200" y="1705706"/>
            <a:ext cx="2652640" cy="89123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i="1" dirty="0"/>
              <a:t>🧹 Data Cleaning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A6FCE4-8D77-8394-1CDD-16EBADEBA67F}"/>
              </a:ext>
            </a:extLst>
          </p:cNvPr>
          <p:cNvSpPr/>
          <p:nvPr/>
        </p:nvSpPr>
        <p:spPr>
          <a:xfrm>
            <a:off x="3440509" y="3032024"/>
            <a:ext cx="2543845" cy="886128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i="1" dirty="0"/>
              <a:t>📊 </a:t>
            </a:r>
            <a:r>
              <a:rPr lang="en-AU" sz="2800" i="1" dirty="0"/>
              <a:t>Statistical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A19A66-13E9-56B9-4308-76512227A19F}"/>
              </a:ext>
            </a:extLst>
          </p:cNvPr>
          <p:cNvSpPr/>
          <p:nvPr/>
        </p:nvSpPr>
        <p:spPr>
          <a:xfrm>
            <a:off x="7521678" y="2859964"/>
            <a:ext cx="2782527" cy="88612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i="1" dirty="0"/>
              <a:t>📈 Visualization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E3355E-571F-B4C5-2342-C656B581A98F}"/>
              </a:ext>
            </a:extLst>
          </p:cNvPr>
          <p:cNvSpPr/>
          <p:nvPr/>
        </p:nvSpPr>
        <p:spPr>
          <a:xfrm>
            <a:off x="7728152" y="4254912"/>
            <a:ext cx="2782529" cy="97338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i="1" dirty="0"/>
              <a:t>🔍 Pattern Identification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680F90-CBC9-186B-540E-A6C5F8B70BC0}"/>
              </a:ext>
            </a:extLst>
          </p:cNvPr>
          <p:cNvSpPr/>
          <p:nvPr/>
        </p:nvSpPr>
        <p:spPr>
          <a:xfrm>
            <a:off x="7728156" y="5751867"/>
            <a:ext cx="2782525" cy="97338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i="1" dirty="0"/>
              <a:t>💡 Business Insights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D5B51EC-1228-33D1-060C-7BEBB4C7D654}"/>
              </a:ext>
            </a:extLst>
          </p:cNvPr>
          <p:cNvSpPr/>
          <p:nvPr/>
        </p:nvSpPr>
        <p:spPr>
          <a:xfrm>
            <a:off x="5853684" y="1345333"/>
            <a:ext cx="484632" cy="360373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55DE8D6-FC6D-74DB-21E3-A779AB962FD7}"/>
              </a:ext>
            </a:extLst>
          </p:cNvPr>
          <p:cNvSpPr/>
          <p:nvPr/>
        </p:nvSpPr>
        <p:spPr>
          <a:xfrm>
            <a:off x="5611368" y="2591833"/>
            <a:ext cx="484632" cy="438459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14D091B-4FDD-5294-52B0-5C66FB81B68E}"/>
              </a:ext>
            </a:extLst>
          </p:cNvPr>
          <p:cNvSpPr/>
          <p:nvPr/>
        </p:nvSpPr>
        <p:spPr>
          <a:xfrm>
            <a:off x="5975305" y="3186683"/>
            <a:ext cx="1546374" cy="48463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976E4B30-90E3-6A61-9930-CABEB194CBDB}"/>
              </a:ext>
            </a:extLst>
          </p:cNvPr>
          <p:cNvSpPr/>
          <p:nvPr/>
        </p:nvSpPr>
        <p:spPr>
          <a:xfrm>
            <a:off x="9521116" y="3746091"/>
            <a:ext cx="484632" cy="50882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94295B36-D7DE-452F-5472-A077F7FCC37B}"/>
              </a:ext>
            </a:extLst>
          </p:cNvPr>
          <p:cNvSpPr/>
          <p:nvPr/>
        </p:nvSpPr>
        <p:spPr>
          <a:xfrm>
            <a:off x="9615948" y="5228301"/>
            <a:ext cx="484632" cy="52356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C7CE7E-F81B-2780-9F56-A319862F4818}"/>
              </a:ext>
            </a:extLst>
          </p:cNvPr>
          <p:cNvSpPr txBox="1"/>
          <p:nvPr/>
        </p:nvSpPr>
        <p:spPr>
          <a:xfrm>
            <a:off x="1174376" y="1345332"/>
            <a:ext cx="21497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600" b="1" i="1" dirty="0"/>
              <a:t>EDA </a:t>
            </a:r>
            <a:r>
              <a:rPr lang="en-AU" sz="3600" b="1" i="1" dirty="0">
                <a:highlight>
                  <a:srgbClr val="0000FF"/>
                </a:highlight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203871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00A0-4575-ECA7-0EDF-A9FBDF22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>
            <a:normAutofit/>
          </a:bodyPr>
          <a:lstStyle/>
          <a:p>
            <a:pPr algn="ctr"/>
            <a:r>
              <a:rPr lang="en-AU" sz="3600" b="1" i="1" dirty="0"/>
              <a:t>Key </a:t>
            </a:r>
            <a:r>
              <a:rPr lang="en-AU" sz="3600" b="1" i="1" dirty="0">
                <a:highlight>
                  <a:srgbClr val="0000FF"/>
                </a:highlight>
              </a:rPr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58D50-617A-0439-F248-6BAA22EB8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84" y="1942167"/>
            <a:ext cx="12017828" cy="4584140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sz="3200" i="1" dirty="0"/>
              <a:t>Relationship between product price and final price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3200" i="1" dirty="0"/>
              <a:t>Premium customers spend more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3200" i="1" dirty="0"/>
              <a:t>Outliers indicate high-value purchases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3200" i="1" dirty="0"/>
              <a:t>Discounts affect final price</a:t>
            </a:r>
          </a:p>
        </p:txBody>
      </p:sp>
    </p:spTree>
    <p:extLst>
      <p:ext uri="{BB962C8B-B14F-4D97-AF65-F5344CB8AC3E}">
        <p14:creationId xmlns:p14="http://schemas.microsoft.com/office/powerpoint/2010/main" val="1524130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C62A-DC03-CA26-780F-07A751D4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689233"/>
          </a:xfrm>
        </p:spPr>
        <p:txBody>
          <a:bodyPr>
            <a:normAutofit/>
          </a:bodyPr>
          <a:lstStyle/>
          <a:p>
            <a:pPr algn="ctr"/>
            <a:r>
              <a:rPr lang="en-AU" sz="3600" b="1" i="1" dirty="0"/>
              <a:t>Key </a:t>
            </a:r>
            <a:r>
              <a:rPr lang="en-AU" sz="3600" b="1" i="1" dirty="0">
                <a:highlight>
                  <a:srgbClr val="0000FF"/>
                </a:highlight>
              </a:rPr>
              <a:t>Findings</a:t>
            </a:r>
            <a:endParaRPr lang="en-AU" sz="3600" b="1" dirty="0">
              <a:highlight>
                <a:srgbClr val="0000FF"/>
              </a:highlight>
            </a:endParaRP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7B519B57-4F8A-3153-1DE4-7080276131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04" y="2193925"/>
            <a:ext cx="5030391" cy="3656269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73C1868A-21F6-E0A8-0432-294F14E9F4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2054943"/>
            <a:ext cx="5484181" cy="37952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984767-82F4-36B1-ED5B-494E0E92BB57}"/>
              </a:ext>
            </a:extLst>
          </p:cNvPr>
          <p:cNvSpPr txBox="1"/>
          <p:nvPr/>
        </p:nvSpPr>
        <p:spPr>
          <a:xfrm>
            <a:off x="234462" y="1357690"/>
            <a:ext cx="5633534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MATRIX  </a:t>
            </a:r>
            <a:r>
              <a:rPr lang="en-US" sz="2800" b="1" dirty="0">
                <a:effectLst/>
                <a:highlight>
                  <a:srgbClr val="0000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HEATMAP</a:t>
            </a:r>
            <a:endParaRPr lang="en-AU" sz="2800" b="1" dirty="0">
              <a:effectLst/>
              <a:highlight>
                <a:srgbClr val="0000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14786-F3E0-0A36-1EFD-16059132ADC0}"/>
              </a:ext>
            </a:extLst>
          </p:cNvPr>
          <p:cNvSpPr txBox="1"/>
          <p:nvPr/>
        </p:nvSpPr>
        <p:spPr>
          <a:xfrm>
            <a:off x="5983550" y="1357690"/>
            <a:ext cx="64408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A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ANALYSIS(</a:t>
            </a:r>
            <a:r>
              <a:rPr lang="en-AU" sz="2800" b="1" dirty="0">
                <a:effectLst/>
                <a:highlight>
                  <a:srgbClr val="0000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 PLOT</a:t>
            </a:r>
            <a:r>
              <a:rPr lang="en-AU" sz="2800" i="1" dirty="0">
                <a:effectLst/>
                <a:latin typeface="Century Gothic" panose="020B0502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AU" sz="2800" i="1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1A26B-F9DF-3D8E-605B-A1234DED1AD1}"/>
              </a:ext>
            </a:extLst>
          </p:cNvPr>
          <p:cNvSpPr txBox="1"/>
          <p:nvPr/>
        </p:nvSpPr>
        <p:spPr>
          <a:xfrm>
            <a:off x="108155" y="6153526"/>
            <a:ext cx="5875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i="1" dirty="0">
                <a:highlight>
                  <a:srgbClr val="FF0000"/>
                </a:highlight>
              </a:rPr>
              <a:t>The heatmap shows strong positive correlation between Product Price and Final Price.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8319CF-D72F-6510-376F-2630554DA584}"/>
              </a:ext>
            </a:extLst>
          </p:cNvPr>
          <p:cNvSpPr txBox="1"/>
          <p:nvPr/>
        </p:nvSpPr>
        <p:spPr>
          <a:xfrm>
            <a:off x="6287754" y="5938684"/>
            <a:ext cx="6213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i="1" dirty="0">
                <a:highlight>
                  <a:srgbClr val="FF0000"/>
                </a:highlight>
              </a:rPr>
              <a:t>The multivariate scatter plot reveals relationships between product price, discounts, and final price, supporting better pricing and sales decisions.</a:t>
            </a:r>
          </a:p>
        </p:txBody>
      </p:sp>
    </p:spTree>
    <p:extLst>
      <p:ext uri="{BB962C8B-B14F-4D97-AF65-F5344CB8AC3E}">
        <p14:creationId xmlns:p14="http://schemas.microsoft.com/office/powerpoint/2010/main" val="15601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2E74-DF63-9F02-7E48-4DE5BE6D2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9393"/>
            <a:ext cx="12192000" cy="880767"/>
          </a:xfrm>
        </p:spPr>
        <p:txBody>
          <a:bodyPr>
            <a:normAutofit/>
          </a:bodyPr>
          <a:lstStyle/>
          <a:p>
            <a:pPr algn="ctr"/>
            <a:r>
              <a:rPr lang="en-AU" sz="3600" b="1" i="1" dirty="0"/>
              <a:t>BUSINESS </a:t>
            </a:r>
            <a:r>
              <a:rPr lang="en-AU" sz="3600" b="1" i="1" dirty="0">
                <a:highlight>
                  <a:srgbClr val="0000FF"/>
                </a:highlight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3FA0-675E-287B-8759-503B737DA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87" y="1482571"/>
            <a:ext cx="12067713" cy="53754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AU" sz="3200" b="1" dirty="0"/>
              <a:t>👥 Customer </a:t>
            </a:r>
            <a:r>
              <a:rPr lang="en-AU" sz="3200" b="1" dirty="0">
                <a:highlight>
                  <a:srgbClr val="0000FF"/>
                </a:highlight>
              </a:rPr>
              <a:t>Behaviour</a:t>
            </a:r>
            <a:r>
              <a:rPr lang="en-AU" sz="3200" b="1" dirty="0"/>
              <a:t>: </a:t>
            </a:r>
          </a:p>
          <a:p>
            <a:pPr marL="0" indent="0">
              <a:buNone/>
            </a:pPr>
            <a:r>
              <a:rPr lang="en-AU" sz="2800" i="1" dirty="0"/>
              <a:t>Different customer segments have different purchasing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2800" b="1" i="1" dirty="0"/>
              <a:t>💰 Pricing </a:t>
            </a:r>
            <a:r>
              <a:rPr lang="en-AU" sz="2800" b="1" i="1" dirty="0">
                <a:highlight>
                  <a:srgbClr val="0000FF"/>
                </a:highlight>
              </a:rPr>
              <a:t>Strategy</a:t>
            </a:r>
            <a:r>
              <a:rPr lang="en-AU" sz="2800" b="1" i="1" dirty="0"/>
              <a:t> :</a:t>
            </a:r>
          </a:p>
          <a:p>
            <a:pPr marL="0" indent="0">
              <a:buNone/>
            </a:pPr>
            <a:r>
              <a:rPr lang="en-AU" sz="2800" i="1" dirty="0"/>
              <a:t>Product price and discounts influence the final selling price.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3200" b="1" dirty="0"/>
              <a:t>📦 Sales </a:t>
            </a:r>
            <a:r>
              <a:rPr lang="en-AU" sz="3200" b="1" dirty="0">
                <a:highlight>
                  <a:srgbClr val="0000FF"/>
                </a:highlight>
              </a:rPr>
              <a:t>Performance</a:t>
            </a:r>
            <a:r>
              <a:rPr lang="en-AU" sz="3200" b="1" dirty="0"/>
              <a:t> :</a:t>
            </a:r>
          </a:p>
          <a:p>
            <a:pPr marL="0" indent="0">
              <a:buNone/>
            </a:pPr>
            <a:r>
              <a:rPr lang="en-AU" sz="2800" i="1" dirty="0"/>
              <a:t>Premium products contribute to higher revenue and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3200" b="1" dirty="0"/>
              <a:t>📊 Decision </a:t>
            </a:r>
            <a:r>
              <a:rPr lang="en-AU" sz="3200" b="1" dirty="0">
                <a:highlight>
                  <a:srgbClr val="0000FF"/>
                </a:highlight>
              </a:rPr>
              <a:t>Making</a:t>
            </a:r>
            <a:r>
              <a:rPr lang="en-AU" sz="3200" b="1" dirty="0"/>
              <a:t>:</a:t>
            </a:r>
          </a:p>
          <a:p>
            <a:pPr marL="0" indent="0">
              <a:buNone/>
            </a:pPr>
            <a:r>
              <a:rPr lang="en-AU" sz="2800" i="1" dirty="0"/>
              <a:t>EDA helps businesses improve pricing, marketing, and inventory decisions.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2946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C19F6-D4F7-3327-B2D4-E8D136D1A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52111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i="1" dirty="0"/>
              <a:t>Tools &amp; </a:t>
            </a:r>
            <a:r>
              <a:rPr lang="en-AU" sz="4000" b="1" i="1" dirty="0">
                <a:highlight>
                  <a:srgbClr val="0000FF"/>
                </a:highlight>
              </a:rPr>
              <a:t>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B5394-B9FB-40F5-2F56-30E0D2356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3"/>
            <a:ext cx="10515600" cy="4859440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pPr marL="0" indent="0">
              <a:buNone/>
            </a:pPr>
            <a:endParaRPr lang="en-AU" sz="3200" i="1" dirty="0"/>
          </a:p>
          <a:p>
            <a:pPr marL="1828800" lvl="4" indent="0">
              <a:buNone/>
            </a:pPr>
            <a:endParaRPr lang="en-AU" sz="2200" i="1" dirty="0"/>
          </a:p>
          <a:p>
            <a:pPr marL="1828800" lvl="4" indent="0">
              <a:buNone/>
            </a:pPr>
            <a:endParaRPr lang="en-AU" sz="2200" i="1" dirty="0"/>
          </a:p>
          <a:p>
            <a:pPr marL="1828800" lvl="4" indent="0">
              <a:buNone/>
            </a:pPr>
            <a:endParaRPr lang="en-AU" sz="2200" i="1" dirty="0"/>
          </a:p>
          <a:p>
            <a:pPr marL="1828800" lvl="4" indent="0">
              <a:buNone/>
            </a:pPr>
            <a:endParaRPr lang="en-AU" sz="2200" i="1" dirty="0"/>
          </a:p>
          <a:p>
            <a:pPr marL="1828800" lvl="4" indent="0">
              <a:buNone/>
            </a:pPr>
            <a:r>
              <a:rPr lang="en-AU" sz="5100" i="1" dirty="0"/>
              <a:t>Python           Pandas		      NumPy</a:t>
            </a:r>
          </a:p>
          <a:p>
            <a:pPr algn="ctr"/>
            <a:endParaRPr lang="en-AU" sz="5100" i="1" dirty="0"/>
          </a:p>
          <a:p>
            <a:pPr marL="0" indent="0">
              <a:buNone/>
            </a:pPr>
            <a:r>
              <a:rPr lang="en-AU" sz="3200" i="1" dirty="0"/>
              <a:t>	 </a:t>
            </a:r>
          </a:p>
          <a:p>
            <a:pPr marL="0" indent="0">
              <a:buNone/>
            </a:pPr>
            <a:r>
              <a:rPr lang="en-AU" sz="3200" i="1" dirty="0"/>
              <a:t>           </a:t>
            </a:r>
          </a:p>
          <a:p>
            <a:endParaRPr lang="en-AU" sz="3200" i="1" dirty="0"/>
          </a:p>
          <a:p>
            <a:pPr lvl="1"/>
            <a:endParaRPr lang="en-AU" sz="2800" i="1" dirty="0"/>
          </a:p>
          <a:p>
            <a:pPr lvl="1"/>
            <a:endParaRPr lang="en-AU" sz="2800" i="1" dirty="0"/>
          </a:p>
          <a:p>
            <a:pPr lvl="1"/>
            <a:endParaRPr lang="en-AU" sz="2800" i="1" dirty="0"/>
          </a:p>
          <a:p>
            <a:pPr marL="457200" lvl="1" indent="0">
              <a:buNone/>
            </a:pPr>
            <a:r>
              <a:rPr lang="en-AU" sz="5100" i="1" dirty="0"/>
              <a:t>            Matplotlib         Seaborn             SciPy</a:t>
            </a:r>
          </a:p>
          <a:p>
            <a:pPr lvl="1"/>
            <a:endParaRPr lang="en-AU" sz="2800" i="1" dirty="0"/>
          </a:p>
          <a:p>
            <a:pPr lvl="1"/>
            <a:endParaRPr lang="en-AU" sz="2800" i="1" dirty="0"/>
          </a:p>
          <a:p>
            <a:endParaRPr lang="en-AU" sz="3200" i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9E6DCA-470E-8B25-D44E-4F78CBAE32C8}"/>
              </a:ext>
            </a:extLst>
          </p:cNvPr>
          <p:cNvSpPr/>
          <p:nvPr/>
        </p:nvSpPr>
        <p:spPr>
          <a:xfrm>
            <a:off x="2604150" y="1526879"/>
            <a:ext cx="1137723" cy="8779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bg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916CE5-FAD4-0297-FAC2-856CE0AD9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054" y="1602658"/>
            <a:ext cx="707917" cy="72758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41CDAC1-AF95-6F06-B2A3-C7C4CE9E7CFC}"/>
              </a:ext>
            </a:extLst>
          </p:cNvPr>
          <p:cNvSpPr/>
          <p:nvPr/>
        </p:nvSpPr>
        <p:spPr>
          <a:xfrm>
            <a:off x="5385454" y="1526879"/>
            <a:ext cx="1137723" cy="9144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847C64-EC32-A2FB-EEE1-6974B584D564}"/>
              </a:ext>
            </a:extLst>
          </p:cNvPr>
          <p:cNvSpPr/>
          <p:nvPr/>
        </p:nvSpPr>
        <p:spPr>
          <a:xfrm>
            <a:off x="8496299" y="1526879"/>
            <a:ext cx="1312605" cy="101558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43F39AD-344E-96EA-39A0-E5D899B22234}"/>
              </a:ext>
            </a:extLst>
          </p:cNvPr>
          <p:cNvSpPr/>
          <p:nvPr/>
        </p:nvSpPr>
        <p:spPr>
          <a:xfrm>
            <a:off x="2831689" y="4198374"/>
            <a:ext cx="1137723" cy="9144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9B92B0-FF69-67F3-50B5-F1D1013B416C}"/>
              </a:ext>
            </a:extLst>
          </p:cNvPr>
          <p:cNvSpPr/>
          <p:nvPr/>
        </p:nvSpPr>
        <p:spPr>
          <a:xfrm>
            <a:off x="5614218" y="4198374"/>
            <a:ext cx="1209370" cy="9144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7F0169-D428-1AFF-9158-E689980E08DC}"/>
              </a:ext>
            </a:extLst>
          </p:cNvPr>
          <p:cNvSpPr/>
          <p:nvPr/>
        </p:nvSpPr>
        <p:spPr>
          <a:xfrm>
            <a:off x="8675741" y="4198374"/>
            <a:ext cx="1312605" cy="9144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4475C9-AB56-F52D-22B1-11FCD5F9A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2" r="19584"/>
          <a:stretch>
            <a:fillRect/>
          </a:stretch>
        </p:blipFill>
        <p:spPr>
          <a:xfrm>
            <a:off x="5614218" y="1602658"/>
            <a:ext cx="678427" cy="8021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5FC7CD2-7DBF-8A9F-676B-5D3BB468B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947" y="1602658"/>
            <a:ext cx="777307" cy="8386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D6649B1-6640-A567-D4A2-12CABB1486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948" y="4251679"/>
            <a:ext cx="739204" cy="80779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07FAE32-2303-3C69-9E6F-9C14826AB4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4251679"/>
            <a:ext cx="835742" cy="80779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2C27487-736B-AB65-613D-6B616DE408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697" y="4251679"/>
            <a:ext cx="940207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59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36F5-CFAE-1615-1D3C-CEF15A291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485441"/>
            <a:ext cx="10250637" cy="702661"/>
          </a:xfrm>
        </p:spPr>
        <p:txBody>
          <a:bodyPr>
            <a:normAutofit/>
          </a:bodyPr>
          <a:lstStyle/>
          <a:p>
            <a:pPr algn="ctr"/>
            <a:r>
              <a:rPr lang="en-AU" sz="3600" b="1" i="1" dirty="0"/>
              <a:t>Project </a:t>
            </a:r>
            <a:r>
              <a:rPr lang="en-AU" sz="3600" b="1" i="1" dirty="0">
                <a:highlight>
                  <a:srgbClr val="0000FF"/>
                </a:highlight>
              </a:rPr>
              <a:t>Summary</a:t>
            </a:r>
          </a:p>
        </p:txBody>
      </p:sp>
      <p:pic>
        <p:nvPicPr>
          <p:cNvPr id="43" name="Content Placeholder 42">
            <a:extLst>
              <a:ext uri="{FF2B5EF4-FFF2-40B4-BE49-F238E27FC236}">
                <a16:creationId xmlns:a16="http://schemas.microsoft.com/office/drawing/2014/main" id="{F4D0CE26-0074-04D4-8B4E-92370ED03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256" y="1904705"/>
            <a:ext cx="6631620" cy="315495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64111-02E8-8A89-E0CA-C28B672CA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7" y="1530219"/>
            <a:ext cx="4743973" cy="5225687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AU" sz="3200" i="1" dirty="0"/>
              <a:t>Completed Univariate, Bivariate &amp; Multivariate Analysis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AU" sz="3200" i="1" dirty="0"/>
              <a:t>Detected outliers using IQR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AU" sz="3200" i="1" dirty="0"/>
              <a:t>Measured Pearson correlation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AU" sz="3200" i="1" dirty="0"/>
              <a:t>Generated business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A7BE4-6F6A-B832-330A-2BF5086F37A2}"/>
              </a:ext>
            </a:extLst>
          </p:cNvPr>
          <p:cNvSpPr txBox="1"/>
          <p:nvPr/>
        </p:nvSpPr>
        <p:spPr>
          <a:xfrm>
            <a:off x="5560380" y="1264517"/>
            <a:ext cx="6631620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dirty="0">
                <a:effectLst/>
                <a:highlight>
                  <a:srgbClr val="0000FF"/>
                </a:highlight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UNIVARIATE</a:t>
            </a:r>
            <a:r>
              <a:rPr lang="en-US" sz="2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_NUM_FINAL_PRICE</a:t>
            </a:r>
            <a:endParaRPr lang="en-AU" sz="2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C28DA-3BE0-D73F-8EB9-DCAFA451F592}"/>
              </a:ext>
            </a:extLst>
          </p:cNvPr>
          <p:cNvSpPr txBox="1"/>
          <p:nvPr/>
        </p:nvSpPr>
        <p:spPr>
          <a:xfrm>
            <a:off x="5681708" y="5651896"/>
            <a:ext cx="6510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i="1" dirty="0">
                <a:solidFill>
                  <a:schemeClr val="accent5"/>
                </a:solidFill>
              </a:rPr>
              <a:t>Shows the distribution of the final price.</a:t>
            </a:r>
          </a:p>
        </p:txBody>
      </p:sp>
    </p:spTree>
    <p:extLst>
      <p:ext uri="{BB962C8B-B14F-4D97-AF65-F5344CB8AC3E}">
        <p14:creationId xmlns:p14="http://schemas.microsoft.com/office/powerpoint/2010/main" val="1207072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CDB408-0CB1-AB39-066B-EF43A68B5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2407" r="-382"/>
          <a:stretch>
            <a:fillRect/>
          </a:stretch>
        </p:blipFill>
        <p:spPr>
          <a:xfrm>
            <a:off x="1037387" y="1348398"/>
            <a:ext cx="5652343" cy="1667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D1AF5A-89A6-8B60-6BCD-9708D0A22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"/>
          <a:stretch>
            <a:fillRect/>
          </a:stretch>
        </p:blipFill>
        <p:spPr>
          <a:xfrm>
            <a:off x="5812972" y="3327679"/>
            <a:ext cx="6198672" cy="34412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E8B54A-C1BE-A3A5-D3C9-19EBD913977D}"/>
              </a:ext>
            </a:extLst>
          </p:cNvPr>
          <p:cNvSpPr txBox="1"/>
          <p:nvPr/>
        </p:nvSpPr>
        <p:spPr>
          <a:xfrm>
            <a:off x="6960092" y="1148137"/>
            <a:ext cx="513129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AU" dirty="0"/>
          </a:p>
          <a:p>
            <a:r>
              <a:rPr lang="en-AU" sz="20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Highlights outliers using the IQR method.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2AED4-2140-2A99-C5B5-D3EA7DACF96B}"/>
              </a:ext>
            </a:extLst>
          </p:cNvPr>
          <p:cNvSpPr txBox="1"/>
          <p:nvPr/>
        </p:nvSpPr>
        <p:spPr>
          <a:xfrm>
            <a:off x="218385" y="4469006"/>
            <a:ext cx="5476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i="1" dirty="0">
                <a:solidFill>
                  <a:srgbClr val="92D050"/>
                </a:solidFill>
              </a:rPr>
              <a:t>Shows the average spending by customer segment</a:t>
            </a:r>
            <a:r>
              <a:rPr lang="en-AU" sz="2800" i="1" dirty="0">
                <a:solidFill>
                  <a:srgbClr val="92D050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B96D9-DC6D-35EC-E5BF-B4850A50E201}"/>
              </a:ext>
            </a:extLst>
          </p:cNvPr>
          <p:cNvSpPr txBox="1"/>
          <p:nvPr/>
        </p:nvSpPr>
        <p:spPr>
          <a:xfrm>
            <a:off x="0" y="692993"/>
            <a:ext cx="11390050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dirty="0">
                <a:effectLst/>
                <a:highlight>
                  <a:srgbClr val="0000FF"/>
                </a:highlight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OUTLIERS</a:t>
            </a:r>
            <a:r>
              <a:rPr lang="en-US" sz="2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_FINAL_PRICE</a:t>
            </a:r>
            <a:endParaRPr lang="en-AU" sz="2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46836-FD73-CA13-AC2E-F7FEE49DD808}"/>
              </a:ext>
            </a:extLst>
          </p:cNvPr>
          <p:cNvSpPr txBox="1"/>
          <p:nvPr/>
        </p:nvSpPr>
        <p:spPr>
          <a:xfrm>
            <a:off x="40355" y="3575207"/>
            <a:ext cx="5772617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dirty="0">
                <a:effectLst/>
                <a:highlight>
                  <a:srgbClr val="0000FF"/>
                </a:highlight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BIVARIATE</a:t>
            </a:r>
            <a:r>
              <a:rPr lang="en-US" sz="2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_SEGMENT_VS_SPENDING</a:t>
            </a:r>
            <a:endParaRPr lang="en-AU" sz="2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813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152BA1-0E14-30D9-E36C-19957C794338}"/>
              </a:ext>
            </a:extLst>
          </p:cNvPr>
          <p:cNvSpPr txBox="1"/>
          <p:nvPr/>
        </p:nvSpPr>
        <p:spPr>
          <a:xfrm>
            <a:off x="78658" y="2576052"/>
            <a:ext cx="12113342" cy="1036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6000" b="1" i="1" dirty="0">
                <a:effectLst/>
                <a:latin typeface="Britannic Bold" panose="020B09030607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</a:t>
            </a:r>
            <a:r>
              <a:rPr lang="en-US" sz="6000" b="1" i="1" dirty="0">
                <a:effectLst/>
                <a:highlight>
                  <a:srgbClr val="0000FF"/>
                </a:highlight>
                <a:latin typeface="Britannic Bold" panose="020B09030607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endParaRPr lang="en-AU" sz="6000" b="1" i="1" dirty="0">
              <a:effectLst/>
              <a:highlight>
                <a:srgbClr val="0000FF"/>
              </a:highlight>
              <a:latin typeface="Britannic Bold" panose="020B0903060703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45279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17551</TotalTime>
  <Words>281</Words>
  <Application>Microsoft Office PowerPoint</Application>
  <PresentationFormat>Widescreen</PresentationFormat>
  <Paragraphs>88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Britannic Bold</vt:lpstr>
      <vt:lpstr>Calibri</vt:lpstr>
      <vt:lpstr>Calibri Light</vt:lpstr>
      <vt:lpstr>Century Gothic</vt:lpstr>
      <vt:lpstr>Wingdings</vt:lpstr>
      <vt:lpstr>Vapor Trail</vt:lpstr>
      <vt:lpstr>Exploratory Data Analysis of Retail Dataset</vt:lpstr>
      <vt:lpstr>Project Objectives</vt:lpstr>
      <vt:lpstr>Dataset Overview</vt:lpstr>
      <vt:lpstr>Methodology</vt:lpstr>
      <vt:lpstr>PowerPoint Presentation</vt:lpstr>
      <vt:lpstr>Key Findings</vt:lpstr>
      <vt:lpstr>Key Findings</vt:lpstr>
      <vt:lpstr>BUSINESS INSIGHTS</vt:lpstr>
      <vt:lpstr>Tools &amp; Libraries</vt:lpstr>
      <vt:lpstr>Project 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Ravalika Vellidandla</dc:creator>
  <cp:lastModifiedBy>Ravalika Vellidandla</cp:lastModifiedBy>
  <cp:revision>49</cp:revision>
  <dcterms:created xsi:type="dcterms:W3CDTF">2026-07-10T06:32:31Z</dcterms:created>
  <dcterms:modified xsi:type="dcterms:W3CDTF">2026-07-24T20:35:08Z</dcterms:modified>
</cp:coreProperties>
</file>